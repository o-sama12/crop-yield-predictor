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59"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142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4DCDDB-9C3F-49A2-997B-D1A337BB10E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B7FF5-115D-4116-A6C7-4B22EDE2A77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E2A24A-7F2F-44D3-A820-ACD01E575AF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C36A-F526-4005-AC05-026A3E500865}" type="slidenum">
              <a:rPr lang="en-US" smtClean="0"/>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1E102E5-9520-4F82-B0E0-9921F10DB3F5}"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A61564F-0AFE-405B-B55E-09D8E27A3249}"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C36A-F526-4005-AC05-026A3E500865}" type="slidenum">
              <a:rPr lang="en-US" smtClean="0"/>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DABE6C4B-74D7-4735-A1B3-75E147E47FF0}"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1514203-DC8F-4275-96F1-174214237A8F}"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AFE3D5-A814-4F6F-9A44-1D3B3A70CB69}"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B5907D1-2DF1-4FC4-8E02-757250E3D5C0}" type="datetime1">
              <a:rPr lang="en-US" smtClean="0"/>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FEAB5AF-8735-46DB-B756-C45D81B1FEC2}" type="datetime1">
              <a:rPr lang="en-US" smtClean="0"/>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96C36A-F526-4005-AC05-026A3E500865}"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F21215D-B0F9-4F0C-AE50-414EF1B2F123}"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761FADB-A972-41AD-8629-B305BA18E2E4}"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F64B0627-76BE-46E6-A90C-DACBD3D96A07}"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F1B6B5F2-3267-4E2E-AA06-C9555CF6904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F1B6B5F2-3267-4E2E-AA06-C9555CF6904E}" type="datetime1">
              <a:rPr lang="en-US" smtClean="0"/>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7B96C36A-F526-4005-AC05-026A3E500865}" type="slidenum">
              <a:rPr lang="en-US" smtClean="0"/>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90;p34"/>
          <p:cNvSpPr txBox="1"/>
          <p:nvPr/>
        </p:nvSpPr>
        <p:spPr>
          <a:xfrm>
            <a:off x="876300" y="2420620"/>
            <a:ext cx="7772400" cy="82867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SzPts val="2800"/>
              <a:buNone/>
            </a:pPr>
            <a:r>
              <a:rPr lang="en-US" b="1" dirty="0">
                <a:solidFill>
                  <a:srgbClr val="420408"/>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r>
              <a:rPr lang="en-US" sz="1600" b="1" dirty="0">
                <a:solidFill>
                  <a:srgbClr val="420408"/>
                </a:solidFill>
                <a:latin typeface="Times New Roman" panose="02020603050405020304" pitchFamily="18" charset="0"/>
                <a:ea typeface="Calibri" panose="020F0502020204030204"/>
                <a:cs typeface="Times New Roman" panose="02020603050405020304" pitchFamily="18" charset="0"/>
                <a:sym typeface="Calibri" panose="020F0502020204030204"/>
              </a:rPr>
              <a:t>A LIGHTWEIGHT MACHINE LEARNING APPROACH ON INDIA’S CROP YIELD PREDICTION USING HISTOGRAM BASED GRADIENT BOOSTING REGRESSOR(HGBR) </a:t>
            </a:r>
            <a:endParaRPr lang="en-US" sz="1600" dirty="0">
              <a:latin typeface="Times New Roman" panose="02020603050405020304" pitchFamily="18" charset="0"/>
              <a:cs typeface="Times New Roman" panose="02020603050405020304" pitchFamily="18" charset="0"/>
            </a:endParaRPr>
          </a:p>
        </p:txBody>
      </p:sp>
      <p:sp>
        <p:nvSpPr>
          <p:cNvPr id="5" name="Google Shape;691;p34"/>
          <p:cNvSpPr txBox="1"/>
          <p:nvPr/>
        </p:nvSpPr>
        <p:spPr>
          <a:xfrm>
            <a:off x="2747645" y="4699000"/>
            <a:ext cx="3962400" cy="110998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dirty="0">
                <a:solidFill>
                  <a:schemeClr val="dk1"/>
                </a:solidFill>
                <a:latin typeface="Times New Roman" panose="02020603050405020304" pitchFamily="18" charset="0"/>
                <a:cs typeface="Times New Roman" panose="02020603050405020304" pitchFamily="18" charset="0"/>
                <a:sym typeface="Arial" panose="020B0604020202020204"/>
              </a:rPr>
              <a:t>Presented By:</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dirty="0">
                <a:solidFill>
                  <a:schemeClr val="dk1"/>
                </a:solidFill>
                <a:latin typeface="Times New Roman" panose="02020603050405020304" pitchFamily="18" charset="0"/>
                <a:cs typeface="Times New Roman" panose="02020603050405020304" pitchFamily="18" charset="0"/>
                <a:sym typeface="Arial" panose="020B0604020202020204"/>
              </a:rPr>
              <a:t>Student Name (23N85A0501)</a:t>
            </a:r>
            <a:endParaRPr sz="18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800"/>
              <a:buFont typeface="Arial" panose="020B0604020202020204"/>
              <a:buNone/>
            </a:pPr>
            <a:r>
              <a:rPr lang="en-US" sz="1800" b="1" i="0" u="none" dirty="0">
                <a:solidFill>
                  <a:schemeClr val="dk1"/>
                </a:solidFill>
                <a:latin typeface="Times New Roman" panose="02020603050405020304" pitchFamily="18" charset="0"/>
                <a:cs typeface="Times New Roman" panose="02020603050405020304" pitchFamily="18" charset="0"/>
                <a:sym typeface="Arial" panose="020B0604020202020204"/>
              </a:rPr>
              <a:t>Student Name (22N81A0525)</a:t>
            </a:r>
            <a:endParaRPr sz="1800"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chemeClr val="dk1"/>
              </a:buClr>
              <a:buSzPts val="1800"/>
              <a:buFont typeface="Arial" panose="020B0604020202020204"/>
              <a:buNone/>
            </a:pPr>
            <a:endParaRPr dirty="0">
              <a:latin typeface="Times New Roman" panose="02020603050405020304" pitchFamily="18" charset="0"/>
              <a:cs typeface="Times New Roman" panose="02020603050405020304" pitchFamily="18" charset="0"/>
            </a:endParaRPr>
          </a:p>
          <a:p>
            <a:pPr marL="0" marR="0" lvl="0" indent="0" algn="l" rtl="0">
              <a:lnSpc>
                <a:spcPct val="100000"/>
              </a:lnSpc>
              <a:spcBef>
                <a:spcPts val="0"/>
              </a:spcBef>
              <a:spcAft>
                <a:spcPts val="0"/>
              </a:spcAft>
              <a:buNone/>
            </a:pPr>
            <a:endParaRPr sz="1800" b="1" i="0" u="none" dirty="0">
              <a:solidFill>
                <a:schemeClr val="dk1"/>
              </a:solidFill>
              <a:latin typeface="Times New Roman" panose="02020603050405020304" pitchFamily="18" charset="0"/>
              <a:cs typeface="Times New Roman" panose="02020603050405020304" pitchFamily="18" charset="0"/>
              <a:sym typeface="Arial" panose="020B0604020202020204"/>
            </a:endParaRPr>
          </a:p>
        </p:txBody>
      </p:sp>
      <p:sp>
        <p:nvSpPr>
          <p:cNvPr id="6" name="Google Shape;692;p34"/>
          <p:cNvSpPr txBox="1"/>
          <p:nvPr/>
        </p:nvSpPr>
        <p:spPr>
          <a:xfrm>
            <a:off x="1619250" y="1873556"/>
            <a:ext cx="5634305"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70C0"/>
              </a:buClr>
              <a:buSzPts val="2400"/>
              <a:buFont typeface="Calibri" panose="020F0502020204030204"/>
              <a:buNone/>
            </a:pPr>
            <a:r>
              <a:rPr lang="en-US" sz="2400" b="1" dirty="0">
                <a:solidFill>
                  <a:srgbClr val="0070C0"/>
                </a:solidFill>
                <a:latin typeface="Times New Roman" panose="02020603050405020304" pitchFamily="18" charset="0"/>
                <a:ea typeface="Calibri" panose="020F0502020204030204"/>
                <a:cs typeface="Times New Roman" panose="02020603050405020304" pitchFamily="18" charset="0"/>
                <a:sym typeface="Calibri" panose="020F0502020204030204"/>
              </a:rPr>
              <a:t>Project </a:t>
            </a:r>
            <a:r>
              <a:rPr lang="en-US" sz="2400" b="1" i="0" u="none" dirty="0">
                <a:solidFill>
                  <a:srgbClr val="0070C0"/>
                </a:solidFill>
                <a:latin typeface="Times New Roman" panose="02020603050405020304" pitchFamily="18" charset="0"/>
                <a:ea typeface="Calibri" panose="020F0502020204030204"/>
                <a:cs typeface="Times New Roman" panose="02020603050405020304" pitchFamily="18" charset="0"/>
                <a:sym typeface="Calibri" panose="020F0502020204030204"/>
              </a:rPr>
              <a:t>Report on</a:t>
            </a:r>
            <a:endParaRPr lang="en-US" sz="2400" b="1" i="0" u="none" dirty="0">
              <a:solidFill>
                <a:srgbClr val="0070C0"/>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ctr" rtl="0">
              <a:lnSpc>
                <a:spcPct val="100000"/>
              </a:lnSpc>
              <a:spcBef>
                <a:spcPts val="0"/>
              </a:spcBef>
              <a:spcAft>
                <a:spcPts val="0"/>
              </a:spcAft>
              <a:buClr>
                <a:srgbClr val="0070C0"/>
              </a:buClr>
              <a:buSzPts val="2400"/>
              <a:buFont typeface="Calibri" panose="020F0502020204030204"/>
              <a:buNone/>
            </a:pPr>
            <a:r>
              <a:rPr lang="en-US" sz="2400" b="1" i="0" u="none" dirty="0">
                <a:solidFill>
                  <a:srgbClr val="0070C0"/>
                </a:solidFill>
                <a:latin typeface="Times New Roman" panose="02020603050405020304" pitchFamily="18" charset="0"/>
                <a:ea typeface="Calibri" panose="020F0502020204030204"/>
                <a:cs typeface="Times New Roman" panose="02020603050405020304" pitchFamily="18" charset="0"/>
                <a:sym typeface="Calibri" panose="020F0502020204030204"/>
              </a:rPr>
              <a:t> </a:t>
            </a:r>
            <a:endParaRPr dirty="0">
              <a:latin typeface="Times New Roman" panose="02020603050405020304" pitchFamily="18" charset="0"/>
              <a:cs typeface="Times New Roman" panose="02020603050405020304" pitchFamily="18" charset="0"/>
            </a:endParaRPr>
          </a:p>
        </p:txBody>
      </p:sp>
      <p:sp>
        <p:nvSpPr>
          <p:cNvPr id="7" name="Google Shape;694;p34"/>
          <p:cNvSpPr txBox="1"/>
          <p:nvPr/>
        </p:nvSpPr>
        <p:spPr>
          <a:xfrm>
            <a:off x="347206" y="1280176"/>
            <a:ext cx="8763000" cy="731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D0D47"/>
              </a:buClr>
              <a:buSzPts val="2800"/>
              <a:buFont typeface="Calibri" panose="020F0502020204030204"/>
              <a:buNone/>
            </a:pPr>
            <a:r>
              <a:rPr lang="en-US" sz="2400" b="1" i="0" u="none" dirty="0">
                <a:solidFill>
                  <a:srgbClr val="0D0D47"/>
                </a:solidFill>
                <a:latin typeface="Times New Roman" panose="02020603050405020304" pitchFamily="18" charset="0"/>
                <a:ea typeface="Calibri" panose="020F0502020204030204"/>
                <a:cs typeface="Times New Roman" panose="02020603050405020304" pitchFamily="18" charset="0"/>
                <a:sym typeface="Calibri" panose="020F0502020204030204"/>
              </a:rPr>
              <a:t>Department of Computer Science and Engineering</a:t>
            </a:r>
            <a:endParaRPr lang="en-US" sz="2400" b="1" i="0" u="none" dirty="0">
              <a:solidFill>
                <a:srgbClr val="0D0D47"/>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ctr" rtl="0">
              <a:lnSpc>
                <a:spcPct val="100000"/>
              </a:lnSpc>
              <a:spcBef>
                <a:spcPts val="0"/>
              </a:spcBef>
              <a:spcAft>
                <a:spcPts val="0"/>
              </a:spcAft>
              <a:buClr>
                <a:srgbClr val="0D0D47"/>
              </a:buClr>
              <a:buSzPts val="2800"/>
              <a:buFont typeface="Calibri" panose="020F0502020204030204"/>
              <a:buNone/>
            </a:pPr>
            <a:endParaRPr dirty="0">
              <a:latin typeface="Times New Roman" panose="02020603050405020304" pitchFamily="18" charset="0"/>
              <a:cs typeface="Times New Roman" panose="02020603050405020304" pitchFamily="18" charset="0"/>
            </a:endParaRPr>
          </a:p>
        </p:txBody>
      </p:sp>
      <p:sp>
        <p:nvSpPr>
          <p:cNvPr id="8" name="Google Shape;695;p34"/>
          <p:cNvSpPr txBox="1"/>
          <p:nvPr/>
        </p:nvSpPr>
        <p:spPr>
          <a:xfrm>
            <a:off x="1776095" y="3547745"/>
            <a:ext cx="5905500" cy="11207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3217"/>
              </a:buClr>
              <a:buSzPts val="2000"/>
              <a:buFont typeface="Calibri" panose="020F0502020204030204"/>
              <a:buNone/>
            </a:pPr>
            <a:r>
              <a:rPr lang="en-US" sz="2000" b="1" i="0" u="none" dirty="0">
                <a:solidFill>
                  <a:srgbClr val="003217"/>
                </a:solidFill>
                <a:latin typeface="Times New Roman" panose="02020603050405020304" pitchFamily="18" charset="0"/>
                <a:ea typeface="Calibri" panose="020F0502020204030204"/>
                <a:cs typeface="Times New Roman" panose="02020603050405020304" pitchFamily="18" charset="0"/>
                <a:sym typeface="Calibri" panose="020F0502020204030204"/>
              </a:rPr>
              <a:t>Under the Supervision of </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3217"/>
              </a:buClr>
              <a:buSzPts val="2000"/>
              <a:buFont typeface="Calibri" panose="020F0502020204030204"/>
              <a:buNone/>
            </a:pPr>
            <a:r>
              <a:rPr lang="en-US" sz="2000" b="1" i="0" u="none" dirty="0">
                <a:solidFill>
                  <a:srgbClr val="003217"/>
                </a:solidFill>
                <a:latin typeface="Times New Roman" panose="02020603050405020304" pitchFamily="18" charset="0"/>
                <a:ea typeface="Calibri" panose="020F0502020204030204"/>
                <a:cs typeface="Times New Roman" panose="02020603050405020304" pitchFamily="18" charset="0"/>
                <a:sym typeface="Calibri" panose="020F0502020204030204"/>
              </a:rPr>
              <a:t>Mrs.  D. Srilatha Reddy</a:t>
            </a:r>
            <a:endParaRPr dirty="0">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3217"/>
              </a:buClr>
              <a:buSzPts val="2000"/>
              <a:buFont typeface="Calibri" panose="020F0502020204030204"/>
              <a:buNone/>
            </a:pPr>
            <a:r>
              <a:rPr lang="en-US" sz="2000" b="1" i="0" u="none" dirty="0">
                <a:solidFill>
                  <a:srgbClr val="003217"/>
                </a:solidFill>
                <a:latin typeface="Times New Roman" panose="02020603050405020304" pitchFamily="18" charset="0"/>
                <a:ea typeface="Calibri" panose="020F0502020204030204"/>
                <a:cs typeface="Times New Roman" panose="02020603050405020304" pitchFamily="18" charset="0"/>
                <a:sym typeface="Calibri" panose="020F0502020204030204"/>
              </a:rPr>
              <a:t>Assistant Professor, Department of CSE</a:t>
            </a:r>
            <a:endParaRPr dirty="0">
              <a:latin typeface="Times New Roman" panose="02020603050405020304" pitchFamily="18" charset="0"/>
              <a:cs typeface="Times New Roman" panose="02020603050405020304" pitchFamily="18" charset="0"/>
            </a:endParaRPr>
          </a:p>
        </p:txBody>
      </p:sp>
      <p:sp>
        <p:nvSpPr>
          <p:cNvPr id="9" name="Google Shape;696;p34"/>
          <p:cNvSpPr txBox="1"/>
          <p:nvPr/>
        </p:nvSpPr>
        <p:spPr>
          <a:xfrm>
            <a:off x="423862" y="4529137"/>
            <a:ext cx="5841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FEFFFF"/>
              </a:buClr>
              <a:buSzPts val="2000"/>
              <a:buFont typeface="Century Gothic" panose="020B0502020202020204"/>
              <a:buNone/>
            </a:pPr>
            <a:fld id="{00000000-1234-1234-1234-123412341234}" type="slidenum">
              <a:rPr lang="en-US" sz="2000" b="0" i="0" u="none">
                <a:solidFill>
                  <a:srgbClr val="FEFFFF"/>
                </a:solidFill>
                <a:latin typeface="Times New Roman" panose="02020603050405020304" pitchFamily="18" charset="0"/>
                <a:ea typeface="Century Gothic" panose="020B0502020202020204"/>
                <a:cs typeface="Times New Roman" panose="02020603050405020304" pitchFamily="18" charset="0"/>
                <a:sym typeface="Century Gothic" panose="020B0502020202020204"/>
              </a:rPr>
            </a:fld>
            <a:endParaRPr>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1"/>
          <a:stretch>
            <a:fillRect/>
          </a:stretch>
        </p:blipFill>
        <p:spPr>
          <a:xfrm>
            <a:off x="1287767" y="147276"/>
            <a:ext cx="6393689" cy="999045"/>
          </a:xfrm>
          <a:prstGeom prst="rect">
            <a:avLst/>
          </a:prstGeom>
        </p:spPr>
      </p:pic>
      <p:sp>
        <p:nvSpPr>
          <p:cNvPr id="11" name="Slide Number Placeholder 10"/>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latin typeface="+mn-lt"/>
              </a:rPr>
              <a:t>ABSTRACT</a:t>
            </a:r>
            <a:endParaRPr lang="en-US" b="1" dirty="0">
              <a:latin typeface="+mn-lt"/>
            </a:endParaRP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b="1" dirty="0"/>
              <a:t> </a:t>
            </a:r>
            <a:r>
              <a:rPr lang="en-US" altLang="en-US" sz="1800" dirty="0">
                <a:latin typeface="Times New Roman" panose="02020603050405020304" pitchFamily="18" charset="0"/>
                <a:cs typeface="Times New Roman" panose="02020603050405020304" pitchFamily="18" charset="0"/>
              </a:rPr>
              <a:t>This project focuses on implementing the Histogram-Based Gradient Boosting Regressor (HGBR) for efficient and accurate predictive modeling. The model leverages histogram-based binning to reduce computational complexity and improve training speed compared to traditional gradient boosting methods.</a:t>
            </a: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The objective of this project is to analyze and predict target values by training the HGBR model on a structured dataset, optimizing performance through hyperparameter tuning and feature selection. The model’s effectiveness is evaluated using standard regression metrics such as Mean Squared Error (MSE) and R² score.</a:t>
            </a:r>
            <a:endParaRPr lang="en-US" alt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Results demonstrate that HGBR provides high accuracy with faster training time, making it suitable for large-scale datasets and real-world machine learning applications.</a:t>
            </a:r>
            <a:endParaRPr lang="en-US" altLang="en-US" sz="18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p:txBody>
          <a:bodyPr/>
          <a:p>
            <a:r>
              <a:rPr lang="en-US">
                <a:latin typeface="Calibri" panose="020F0502020204030204" pitchFamily="34" charset="0"/>
                <a:cs typeface="Calibri" panose="020F0502020204030204" pitchFamily="34" charset="0"/>
              </a:rPr>
              <a:t>Introduction </a:t>
            </a:r>
            <a:endParaRPr lang="en-US">
              <a:latin typeface="Calibri" panose="020F0502020204030204" pitchFamily="34" charset="0"/>
              <a:cs typeface="Calibri" panose="020F0502020204030204" pitchFamily="34" charset="0"/>
            </a:endParaRPr>
          </a:p>
        </p:txBody>
      </p:sp>
      <p:sp>
        <p:nvSpPr>
          <p:cNvPr id="6" name="Content Placeholder 5"/>
          <p:cNvSpPr>
            <a:spLocks noGrp="1"/>
          </p:cNvSpPr>
          <p:nvPr>
            <p:ph idx="1"/>
          </p:nvPr>
        </p:nvSpPr>
        <p:spPr/>
        <p:txBody>
          <a:bodyPr>
            <a:normAutofit lnSpcReduction="10000"/>
          </a:bodyPr>
          <a:p>
            <a:pPr>
              <a:buFont typeface="Arial" panose="020B0604020202020204" pitchFamily="34" charset="0"/>
              <a:buChar char="•"/>
            </a:pPr>
            <a:endParaRPr lang="en-US" altLang="en-US"/>
          </a:p>
          <a:p>
            <a:pPr algn="just">
              <a:buFont typeface="Arial" panose="020B0604020202020204" pitchFamily="34" charset="0"/>
              <a:buChar char="•"/>
            </a:pPr>
            <a:r>
              <a:rPr lang="en-US" altLang="en-US"/>
              <a:t>Agriculture has been the backbone of India’s economy for centuries, supporting a large portion of the population and contributing significantly to GDP.</a:t>
            </a:r>
            <a:endParaRPr lang="en-US" altLang="en-US"/>
          </a:p>
          <a:p>
            <a:pPr>
              <a:buFont typeface="Arial" panose="020B0604020202020204" pitchFamily="34" charset="0"/>
              <a:buChar char="•"/>
            </a:pPr>
            <a:endParaRPr lang="en-US" altLang="en-US"/>
          </a:p>
          <a:p>
            <a:pPr algn="just">
              <a:buFont typeface="Arial" panose="020B0604020202020204" pitchFamily="34" charset="0"/>
              <a:buChar char="•"/>
            </a:pPr>
            <a:r>
              <a:rPr lang="en-US" altLang="en-US"/>
              <a:t>Traditional farming practices in India have relied heavily on experience, seasonal patterns, and manual observation for decision-making.</a:t>
            </a:r>
            <a:endParaRPr lang="en-US" altLang="en-US"/>
          </a:p>
          <a:p>
            <a:pPr>
              <a:buFont typeface="Arial" panose="020B0604020202020204" pitchFamily="34" charset="0"/>
              <a:buChar char="•"/>
            </a:pPr>
            <a:endParaRPr lang="en-US" altLang="en-US"/>
          </a:p>
          <a:p>
            <a:pPr algn="just">
              <a:buFont typeface="Arial" panose="020B0604020202020204" pitchFamily="34" charset="0"/>
              <a:buChar char="•"/>
            </a:pPr>
            <a:r>
              <a:rPr lang="en-US" altLang="en-US"/>
              <a:t>However, these conventional methods often fail to accurately predict crop yield due to unpredictable factors like climate change, soil variability, and rainfall fluctuations.</a:t>
            </a:r>
            <a:endParaRPr lang="en-US" altLang="en-US"/>
          </a:p>
          <a:p>
            <a:pPr>
              <a:buFont typeface="Arial" panose="020B0604020202020204" pitchFamily="34" charset="0"/>
              <a:buChar char="•"/>
            </a:pP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rPr>
              <a:t>Introduction(Contd).</a:t>
            </a:r>
            <a:endParaRPr lang="en-US">
              <a:latin typeface="+mn-lt"/>
              <a:cs typeface="+mn-lt"/>
            </a:endParaRPr>
          </a:p>
        </p:txBody>
      </p:sp>
      <p:sp>
        <p:nvSpPr>
          <p:cNvPr id="3" name="Content Placeholder 2"/>
          <p:cNvSpPr>
            <a:spLocks noGrp="1"/>
          </p:cNvSpPr>
          <p:nvPr>
            <p:ph idx="1"/>
          </p:nvPr>
        </p:nvSpPr>
        <p:spPr/>
        <p:txBody>
          <a:bodyPr>
            <a:normAutofit lnSpcReduction="10000"/>
          </a:bodyPr>
          <a:p>
            <a:endParaRPr lang="en-US"/>
          </a:p>
          <a:p>
            <a:pPr algn="just">
              <a:buFont typeface="Arial" panose="020B0604020202020204" pitchFamily="34" charset="0"/>
              <a:buChar char="•"/>
            </a:pPr>
            <a:r>
              <a:rPr lang="en-US" altLang="en-US"/>
              <a:t>With the advancement of Machine Learning, data-driven approaches can be used to improve prediction accuracy and assist farmers in making informed decisions.</a:t>
            </a:r>
            <a:endParaRPr lang="en-US" altLang="en-US"/>
          </a:p>
          <a:p>
            <a:pPr>
              <a:buFont typeface="Arial" panose="020B0604020202020204" pitchFamily="34" charset="0"/>
              <a:buChar char="•"/>
            </a:pPr>
            <a:endParaRPr lang="en-US" altLang="en-US"/>
          </a:p>
          <a:p>
            <a:pPr algn="just">
              <a:buFont typeface="Arial" panose="020B0604020202020204" pitchFamily="34" charset="0"/>
              <a:buChar char="•"/>
            </a:pPr>
            <a:r>
              <a:rPr lang="en-US" altLang="en-US"/>
              <a:t>Among various techniques, Histogram-Based Gradient Boosting Regressor (HGBR) offers an efficient and scalable solution for handling large agricultural datasets.</a:t>
            </a:r>
            <a:endParaRPr lang="en-US" altLang="en-US"/>
          </a:p>
          <a:p>
            <a:pPr>
              <a:buFont typeface="Arial" panose="020B0604020202020204" pitchFamily="34" charset="0"/>
              <a:buChar char="•"/>
            </a:pPr>
            <a:endParaRPr lang="en-US" altLang="en-US"/>
          </a:p>
          <a:p>
            <a:pPr algn="just">
              <a:buFont typeface="Arial" panose="020B0604020202020204" pitchFamily="34" charset="0"/>
              <a:buChar char="•"/>
            </a:pPr>
            <a:r>
              <a:rPr lang="en-US" altLang="en-US"/>
              <a:t>This project focuses on applying HGBR to predict crop yield more accurately, helping to overcome the limitations of traditional prediction methods.</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rPr>
              <a:t>Problem Definition</a:t>
            </a:r>
            <a:endParaRPr lang="en-US">
              <a:latin typeface="+mn-ea"/>
              <a:cs typeface="+mn-ea"/>
            </a:endParaRPr>
          </a:p>
        </p:txBody>
      </p:sp>
      <p:sp>
        <p:nvSpPr>
          <p:cNvPr id="3" name="Content Placeholder 2"/>
          <p:cNvSpPr>
            <a:spLocks noGrp="1"/>
          </p:cNvSpPr>
          <p:nvPr>
            <p:ph idx="1"/>
          </p:nvPr>
        </p:nvSpPr>
        <p:spPr/>
        <p:txBody>
          <a:bodyPr>
            <a:normAutofit lnSpcReduction="10000"/>
          </a:bodyPr>
          <a:p>
            <a:pPr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Traditional crop yield prediction methods in India rely on farmer experience, historical patterns, and manual estimation, which are often inaccurate and inconsistent. These age-old approaches fail to account for complex factors such as changing climate conditions, soil diversity, and unpredictable rainfall.</a:t>
            </a:r>
            <a:endParaRPr lang="en-US" altLang="en-US">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Modern Machine Learning models improve prediction accuracy but often require high computational power, large memory, and longer training time. This makes many advanced models impractical for real-world agricultural use, especially in resource-constrained environments.</a:t>
            </a:r>
            <a:endParaRPr lang="en-US" altLang="en-US">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There is a need for a solution that balances accuracy and efficiency in crop yield prediction. This project addresses the problem by using Histogram-Based Gradient Boosting Regressor (HGBR) to provide faster and reliable predictions with reduced computational cost.</a:t>
            </a:r>
            <a:endParaRPr lang="en-US" alt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rPr>
              <a:t>Literature Survey</a:t>
            </a:r>
            <a:endParaRPr lang="en-US">
              <a:latin typeface="+mn-ea"/>
              <a:cs typeface="+mn-ea"/>
            </a:endParaRPr>
          </a:p>
        </p:txBody>
      </p:sp>
      <p:sp>
        <p:nvSpPr>
          <p:cNvPr id="3" name="Content Placeholder 2"/>
          <p:cNvSpPr>
            <a:spLocks noGrp="1"/>
          </p:cNvSpPr>
          <p:nvPr>
            <p:ph idx="1"/>
          </p:nvPr>
        </p:nvSpPr>
        <p:spPr/>
        <p:txBody>
          <a:bodyPr/>
          <a:p>
            <a:pPr>
              <a:buFont typeface="Arial" panose="020B0604020202020204" pitchFamily="34" charset="0"/>
              <a:buChar char="•"/>
            </a:pPr>
            <a:endParaRPr lang="en-US" altLang="en-US"/>
          </a:p>
          <a:p>
            <a:pPr>
              <a:buFont typeface="Arial" panose="020B0604020202020204" pitchFamily="34" charset="0"/>
              <a:buChar char="•"/>
            </a:pPr>
            <a:r>
              <a:rPr lang="en-US" altLang="en-US"/>
              <a:t>Several studies have applied Machine Learning techniques such as Linear Regression, Decision Trees, and Random Forest for crop yield prediction.</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Traditional models like Linear Regression are simple but often fail to capture complex non-linear relationships in agricultural data.</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Advanced ensemble methods like Random Forest and Gradient Boosting provide better accuracy but can be computationally expensive.</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sym typeface="+mn-ea"/>
              </a:rPr>
              <a:t>Literature Survey(Contd).</a:t>
            </a:r>
            <a:endParaRPr lang="en-US"/>
          </a:p>
        </p:txBody>
      </p:sp>
      <p:sp>
        <p:nvSpPr>
          <p:cNvPr id="3" name="Content Placeholder 2"/>
          <p:cNvSpPr>
            <a:spLocks noGrp="1"/>
          </p:cNvSpPr>
          <p:nvPr>
            <p:ph idx="1"/>
          </p:nvPr>
        </p:nvSpPr>
        <p:spPr/>
        <p:txBody>
          <a:bodyPr>
            <a:normAutofit lnSpcReduction="10000"/>
          </a:bodyPr>
          <a:p>
            <a:pPr>
              <a:buFont typeface="Arial" panose="020B0604020202020204" pitchFamily="34" charset="0"/>
              <a:buChar char="•"/>
            </a:pPr>
            <a:endParaRPr lang="en-US"/>
          </a:p>
          <a:p>
            <a:pPr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Recent research highlights the effectiveness of Gradient Boosting techniques in handling large and complex datasets with improved prediction performance.</a:t>
            </a:r>
            <a:endParaRPr lang="en-US" altLang="en-US">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However, many existing approaches do not focus on optimizing both training speed and resource efficiency.</a:t>
            </a:r>
            <a:endParaRPr lang="en-US" altLang="en-US">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altLang="en-US">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This project explores Histogram-Based Gradient Boosting Regressor (HGBR) as a solution that balances accuracy, speed, and scalability in crop yield prediction.</a:t>
            </a:r>
            <a:endParaRPr lang="en-US" alt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rPr>
              <a:t>System Design</a:t>
            </a:r>
            <a:endParaRPr lang="en-US">
              <a:latin typeface="+mn-lt"/>
              <a:cs typeface="+mn-lt"/>
            </a:endParaRPr>
          </a:p>
        </p:txBody>
      </p:sp>
      <p:pic>
        <p:nvPicPr>
          <p:cNvPr id="5" name="Content Placeholder 4" descr="DFD0"/>
          <p:cNvPicPr>
            <a:picLocks noChangeAspect="1"/>
          </p:cNvPicPr>
          <p:nvPr>
            <p:ph idx="1"/>
          </p:nvPr>
        </p:nvPicPr>
        <p:blipFill>
          <a:blip r:embed="rId1"/>
          <a:stretch>
            <a:fillRect/>
          </a:stretch>
        </p:blipFill>
        <p:spPr>
          <a:xfrm>
            <a:off x="950595" y="2004695"/>
            <a:ext cx="7141845" cy="3684270"/>
          </a:xfrm>
          <a:prstGeom prst="rect">
            <a:avLst/>
          </a:prstGeom>
        </p:spPr>
      </p:pic>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sym typeface="+mn-ea"/>
              </a:rPr>
              <a:t>System Design(Contd).</a:t>
            </a:r>
            <a:endParaRPr lang="en-US"/>
          </a:p>
        </p:txBody>
      </p:sp>
      <p:sp>
        <p:nvSpPr>
          <p:cNvPr id="3" name="Content Placeholder 2"/>
          <p:cNvSpPr>
            <a:spLocks noGrp="1"/>
          </p:cNvSpPr>
          <p:nvPr>
            <p:ph idx="1"/>
          </p:nvPr>
        </p:nvSpPr>
        <p:spPr/>
        <p:txBody>
          <a:bodyPr/>
          <a:p>
            <a:endParaRPr lang="en-US"/>
          </a:p>
          <a:p>
            <a:pPr>
              <a:buFont typeface="Arial" panose="020B0604020202020204" pitchFamily="34" charset="0"/>
              <a:buChar char="•"/>
            </a:pPr>
            <a:r>
              <a:rPr lang="en-US" altLang="en-US"/>
              <a:t>The system begins with the user (farmer) providing input such as crop type and region. The Prediction System acts as the central component that processes all inputs and data.</a:t>
            </a:r>
            <a:endParaRPr lang="en-US" altLang="en-US"/>
          </a:p>
          <a:p>
            <a:pPr>
              <a:buFont typeface="Arial" panose="020B0604020202020204" pitchFamily="34" charset="0"/>
              <a:buChar char="•"/>
            </a:pPr>
            <a:r>
              <a:rPr lang="en-US" altLang="en-US"/>
              <a:t>The system also takes historical agro-meteorological data (rainfall, temperature, etc.) as input for better prediction. In Level 1, the data is sent to the model training module, where the machine learning model (HGBR) learns patterns.</a:t>
            </a:r>
            <a:endParaRPr lang="en-US" altLang="en-US"/>
          </a:p>
          <a:p>
            <a:pPr>
              <a:buFont typeface="Arial" panose="020B0604020202020204" pitchFamily="34" charset="0"/>
              <a:buChar char="•"/>
            </a:pPr>
            <a:r>
              <a:rPr lang="en-US" altLang="en-US"/>
              <a:t>After processing, the system generates the predicted crop yield based on input and historical data. Finally, the result is shown in the result display module, making it easy for users to understand the output.</a:t>
            </a:r>
            <a:endParaRPr lang="en-US" altLang="en-US"/>
          </a:p>
          <a:p>
            <a:pPr marL="0" indent="0">
              <a:buFont typeface="Arial" panose="020B0604020202020204" pitchFamily="34" charset="0"/>
              <a:buNone/>
            </a:pPr>
            <a:endParaRPr lang="en-US" altLang="en-US"/>
          </a:p>
          <a:p>
            <a:pPr>
              <a:buFont typeface="Arial" panose="020B0604020202020204" pitchFamily="34" charset="0"/>
              <a:buChar char="•"/>
            </a:pP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sym typeface="+mn-ea"/>
              </a:rPr>
              <a:t>System Design(Contd).</a:t>
            </a:r>
            <a:endParaRPr lang="en-US"/>
          </a:p>
        </p:txBody>
      </p:sp>
      <p:pic>
        <p:nvPicPr>
          <p:cNvPr id="5" name="Content Placeholder 4" descr="DFD1"/>
          <p:cNvPicPr>
            <a:picLocks noChangeAspect="1"/>
          </p:cNvPicPr>
          <p:nvPr>
            <p:ph idx="1"/>
          </p:nvPr>
        </p:nvPicPr>
        <p:blipFill>
          <a:blip r:embed="rId1"/>
          <a:stretch>
            <a:fillRect/>
          </a:stretch>
        </p:blipFill>
        <p:spPr>
          <a:xfrm>
            <a:off x="1102360" y="1989455"/>
            <a:ext cx="6599555" cy="3589655"/>
          </a:xfrm>
          <a:prstGeom prst="rect">
            <a:avLst/>
          </a:prstGeom>
        </p:spPr>
      </p:pic>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rPr>
              <a:t>Methodology</a:t>
            </a:r>
            <a:endParaRPr lang="en-US">
              <a:latin typeface="+mn-ea"/>
              <a:cs typeface="+mn-ea"/>
            </a:endParaRPr>
          </a:p>
        </p:txBody>
      </p:sp>
      <p:sp>
        <p:nvSpPr>
          <p:cNvPr id="3" name="Content Placeholder 2"/>
          <p:cNvSpPr>
            <a:spLocks noGrp="1"/>
          </p:cNvSpPr>
          <p:nvPr>
            <p:ph idx="1"/>
          </p:nvPr>
        </p:nvSpPr>
        <p:spPr/>
        <p:txBody>
          <a:bodyPr/>
          <a:p>
            <a:pPr>
              <a:buFont typeface="Arial" panose="020B0604020202020204" pitchFamily="34" charset="0"/>
              <a:buChar char="•"/>
            </a:pPr>
            <a:r>
              <a:rPr lang="en-US" altLang="en-US"/>
              <a:t>The project follows a systematic approach involving data collection, preprocessing, and model implementation.</a:t>
            </a:r>
            <a:endParaRPr lang="en-US" altLang="en-US"/>
          </a:p>
          <a:p>
            <a:pPr>
              <a:buFont typeface="Arial" panose="020B0604020202020204" pitchFamily="34" charset="0"/>
              <a:buChar char="•"/>
            </a:pPr>
            <a:r>
              <a:rPr lang="en-US" altLang="en-US"/>
              <a:t>Dataset Source: Collected from Kaggle with historical crop yield data</a:t>
            </a:r>
            <a:endParaRPr lang="en-US" altLang="en-US"/>
          </a:p>
          <a:p>
            <a:pPr>
              <a:buFont typeface="Arial" panose="020B0604020202020204" pitchFamily="34" charset="0"/>
              <a:buChar char="•"/>
            </a:pPr>
            <a:r>
              <a:rPr lang="en-US" altLang="en-US"/>
              <a:t>Key Features Used: Meteorological Data: Rainfall, temperature, humidity. Soil Parameters: Soil type, Nitrogen (N), Phosphorous (P), Potassium (K). Crop Information: Crop type and season. Target Variable: Crop yield (tonnes per hectare)</a:t>
            </a:r>
            <a:endParaRPr lang="en-US" altLang="en-US"/>
          </a:p>
          <a:p>
            <a:pPr>
              <a:buFont typeface="Arial" panose="020B0604020202020204" pitchFamily="34" charset="0"/>
              <a:buChar char="•"/>
            </a:pPr>
            <a:r>
              <a:rPr lang="en-US" altLang="en-US"/>
              <a:t>Data Preprocessing Steps: Handling Missing Values using mean imputation, Encoding Categorical Data (crop type, region) into numerical form, Data Normalization to ensure balanced feature contribution.</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sym typeface="+mn-ea"/>
              </a:rPr>
              <a:t>Methodology(Contd).</a:t>
            </a:r>
            <a:endParaRPr lang="en-US"/>
          </a:p>
        </p:txBody>
      </p:sp>
      <p:sp>
        <p:nvSpPr>
          <p:cNvPr id="3" name="Content Placeholder 2"/>
          <p:cNvSpPr>
            <a:spLocks noGrp="1"/>
          </p:cNvSpPr>
          <p:nvPr>
            <p:ph idx="1"/>
          </p:nvPr>
        </p:nvSpPr>
        <p:spPr/>
        <p:txBody>
          <a:bodyPr>
            <a:normAutofit fontScale="90000"/>
          </a:bodyPr>
          <a:p>
            <a:pPr>
              <a:buFont typeface="Arial" panose="020B0604020202020204" pitchFamily="34" charset="0"/>
              <a:buChar char="•"/>
            </a:pPr>
            <a:r>
              <a:rPr lang="en-US" altLang="en-US" b="1"/>
              <a:t>Proposed Model:</a:t>
            </a:r>
            <a:r>
              <a:rPr lang="en-US" altLang="en-US"/>
              <a:t> Histogram-Based Gradient Boosting Regressor (HGBR)</a:t>
            </a:r>
            <a:endParaRPr lang="en-US" altLang="en-US" b="1"/>
          </a:p>
          <a:p>
            <a:pPr>
              <a:buFont typeface="Arial" panose="020B0604020202020204" pitchFamily="34" charset="0"/>
              <a:buChar char="•"/>
            </a:pPr>
            <a:r>
              <a:rPr lang="en-US" altLang="en-US" b="1"/>
              <a:t>Working Principle: </a:t>
            </a:r>
            <a:r>
              <a:rPr lang="en-US" altLang="en-US"/>
              <a:t>Uses Gradient Boosting (sequential learning from errors), Applies Histogram Binning to improve efficiency.</a:t>
            </a:r>
            <a:endParaRPr lang="en-US" altLang="en-US"/>
          </a:p>
          <a:p>
            <a:pPr>
              <a:buFont typeface="Arial" panose="020B0604020202020204" pitchFamily="34" charset="0"/>
              <a:buChar char="•"/>
            </a:pPr>
            <a:r>
              <a:rPr lang="en-US" altLang="en-US" b="1"/>
              <a:t>Advantages of HGBR:</a:t>
            </a:r>
            <a:r>
              <a:rPr lang="en-US" altLang="en-US"/>
              <a:t> Faster training with reduced computational complexity, Efficient for large agricultural datasets, Handles nonlinear relationships effectively.</a:t>
            </a:r>
            <a:endParaRPr lang="en-US" altLang="en-US"/>
          </a:p>
          <a:p>
            <a:pPr>
              <a:buFont typeface="Arial" panose="020B0604020202020204" pitchFamily="34" charset="0"/>
              <a:buChar char="•"/>
            </a:pPr>
            <a:r>
              <a:rPr lang="en-US" altLang="en-US" b="1"/>
              <a:t>Tools &amp; Technologies: </a:t>
            </a:r>
            <a:r>
              <a:rPr lang="en-US" altLang="en-US"/>
              <a:t>Python (core language), Scikit-learn (HGBR model), Matplotlib (visualization).</a:t>
            </a:r>
            <a:endParaRPr lang="en-US" altLang="en-US"/>
          </a:p>
          <a:p>
            <a:pPr>
              <a:buFont typeface="Arial" panose="020B0604020202020204" pitchFamily="34" charset="0"/>
              <a:buChar char="•"/>
            </a:pPr>
            <a:r>
              <a:rPr lang="en-US" altLang="en-US" b="1"/>
              <a:t>Hyperparameters Tuned: </a:t>
            </a:r>
            <a:r>
              <a:rPr lang="en-US" altLang="en-US"/>
              <a:t>Learning Rate, Max Depth,Number of Iterations.</a:t>
            </a:r>
            <a:endParaRPr lang="en-US" altLang="en-US"/>
          </a:p>
          <a:p>
            <a:pPr>
              <a:buFont typeface="Arial" panose="020B0604020202020204" pitchFamily="34" charset="0"/>
              <a:buChar char="•"/>
            </a:pPr>
            <a:r>
              <a:rPr lang="en-US" altLang="en-US" b="1"/>
              <a:t>Evaluation Metrics: </a:t>
            </a:r>
            <a:r>
              <a:rPr lang="en-US" altLang="en-US"/>
              <a:t>R² Score, Mean Squared Error (MSE), Mean Absolute Error (MAE), Mean Squared Log Error (MSLE).</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rPr>
              <a:t>Requirement Specifications</a:t>
            </a:r>
            <a:endParaRPr lang="en-US">
              <a:latin typeface="+mn-ea"/>
              <a:cs typeface="+mn-ea"/>
            </a:endParaRPr>
          </a:p>
        </p:txBody>
      </p:sp>
      <p:sp>
        <p:nvSpPr>
          <p:cNvPr id="3" name="Content Placeholder 2"/>
          <p:cNvSpPr>
            <a:spLocks noGrp="1"/>
          </p:cNvSpPr>
          <p:nvPr>
            <p:ph idx="1"/>
          </p:nvPr>
        </p:nvSpPr>
        <p:spPr/>
        <p:txBody>
          <a:bodyPr>
            <a:normAutofit fontScale="80000"/>
          </a:bodyPr>
          <a:p>
            <a:pPr marL="0" indent="0">
              <a:buFont typeface="Arial" panose="020B0604020202020204" pitchFamily="34" charset="0"/>
              <a:buNone/>
            </a:pPr>
            <a:r>
              <a:rPr lang="en-US"/>
              <a:t> </a:t>
            </a:r>
            <a:r>
              <a:rPr lang="en-US" sz="3500" b="1"/>
              <a:t>System Requirements</a:t>
            </a:r>
            <a:endParaRPr lang="en-US"/>
          </a:p>
          <a:p>
            <a:pPr>
              <a:buFont typeface="Arial" panose="020B0604020202020204" pitchFamily="34" charset="0"/>
              <a:buChar char="•"/>
            </a:pPr>
            <a:r>
              <a:rPr lang="en-US" altLang="en-US"/>
              <a:t>The system is a machine learning-based crop yield prediction application.</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Requires structured agricultural data such as: Rainfall, Temperature, Soil type, Crop details.</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Main processing stages include: Data Input, Data Preprocessing, Model Training, Prediction Generation.</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Designed to be scalable and efficient for handling multi-feature datasets.</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sym typeface="+mn-ea"/>
              </a:rPr>
              <a:t>Requirement Specifications(Contd).</a:t>
            </a:r>
            <a:endParaRPr lang="en-US" b="1"/>
          </a:p>
        </p:txBody>
      </p:sp>
      <p:sp>
        <p:nvSpPr>
          <p:cNvPr id="3" name="Content Placeholder 2"/>
          <p:cNvSpPr>
            <a:spLocks noGrp="1"/>
          </p:cNvSpPr>
          <p:nvPr>
            <p:ph idx="1"/>
          </p:nvPr>
        </p:nvSpPr>
        <p:spPr/>
        <p:txBody>
          <a:bodyPr>
            <a:normAutofit fontScale="90000" lnSpcReduction="20000"/>
          </a:bodyPr>
          <a:p>
            <a:pPr marL="0" indent="0">
              <a:buFont typeface="Arial" panose="020B0604020202020204" pitchFamily="34" charset="0"/>
              <a:buNone/>
            </a:pPr>
            <a:r>
              <a:rPr lang="en-US"/>
              <a:t> </a:t>
            </a:r>
            <a:r>
              <a:rPr lang="en-US" sz="2800" b="1"/>
              <a:t>User Requirements</a:t>
            </a:r>
            <a:endParaRPr lang="en-US"/>
          </a:p>
          <a:p>
            <a:pPr>
              <a:buFont typeface="Arial" panose="020B0604020202020204" pitchFamily="34" charset="0"/>
              <a:buChar char="•"/>
            </a:pPr>
            <a:endParaRPr lang="en-US" altLang="en-US"/>
          </a:p>
          <a:p>
            <a:pPr>
              <a:buFont typeface="Arial" panose="020B0604020202020204" pitchFamily="34" charset="0"/>
              <a:buChar char="•"/>
            </a:pPr>
            <a:r>
              <a:rPr lang="en-US" altLang="en-US"/>
              <a:t>The system is designed for: Farmers, Agricultural researchers, Government agencies.</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Users should be able to: Input agricultural parameters (crop, region, weather data), Receive predicted crop yield.</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Output should be: Simple and easy to understand, Visually interpretable (graphs/charts).</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System should require minimal technical knowledge.</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ea"/>
                <a:cs typeface="+mn-ea"/>
                <a:sym typeface="+mn-ea"/>
              </a:rPr>
              <a:t>Requirement Specifications(Contd).</a:t>
            </a:r>
            <a:endParaRPr lang="en-US"/>
          </a:p>
        </p:txBody>
      </p:sp>
      <p:sp>
        <p:nvSpPr>
          <p:cNvPr id="3" name="Content Placeholder 2"/>
          <p:cNvSpPr>
            <a:spLocks noGrp="1"/>
          </p:cNvSpPr>
          <p:nvPr>
            <p:ph idx="1"/>
          </p:nvPr>
        </p:nvSpPr>
        <p:spPr/>
        <p:txBody>
          <a:bodyPr>
            <a:normAutofit lnSpcReduction="10000"/>
          </a:bodyPr>
          <a:p>
            <a:pPr>
              <a:buFont typeface="Arial" panose="020B0604020202020204" pitchFamily="34" charset="0"/>
              <a:buChar char="•"/>
            </a:pPr>
            <a:r>
              <a:rPr lang="en-US" altLang="en-US"/>
              <a:t> </a:t>
            </a:r>
            <a:r>
              <a:rPr lang="en-US" altLang="en-US" b="1"/>
              <a:t>Functional Requirements:</a:t>
            </a:r>
            <a:r>
              <a:rPr lang="en-US" altLang="en-US"/>
              <a:t> Accept input data (rainfall, temperature, crop type, etc.), Perform preprocessing (cleaning, encoding, scaling), Train machine learning model (HGBR), Predict crop yield, Display results to the user.</a:t>
            </a:r>
            <a:endParaRPr lang="en-US" altLang="en-US"/>
          </a:p>
          <a:p>
            <a:pPr>
              <a:buFont typeface="Arial" panose="020B0604020202020204" pitchFamily="34" charset="0"/>
              <a:buChar char="•"/>
            </a:pPr>
            <a:endParaRPr lang="en-US" altLang="en-US"/>
          </a:p>
          <a:p>
            <a:pPr>
              <a:buFont typeface="Arial" panose="020B0604020202020204" pitchFamily="34" charset="0"/>
              <a:buChar char="•"/>
            </a:pPr>
            <a:r>
              <a:rPr lang="en-US" altLang="en-US"/>
              <a:t> </a:t>
            </a:r>
            <a:r>
              <a:rPr lang="en-US" altLang="en-US" b="1"/>
              <a:t>Performance Requirements:</a:t>
            </a:r>
            <a:r>
              <a:rPr lang="en-US" altLang="en-US"/>
              <a:t> Provide accurate predictions, Ensure low computation time, Handle large datasets efficiently.</a:t>
            </a:r>
            <a:endParaRPr lang="en-US" altLang="en-US"/>
          </a:p>
          <a:p>
            <a:pPr>
              <a:buFont typeface="Arial" panose="020B0604020202020204" pitchFamily="34" charset="0"/>
              <a:buChar char="•"/>
            </a:pPr>
            <a:endParaRPr lang="en-US" altLang="en-US" b="1"/>
          </a:p>
          <a:p>
            <a:pPr>
              <a:buFont typeface="Arial" panose="020B0604020202020204" pitchFamily="34" charset="0"/>
              <a:buChar char="•"/>
            </a:pPr>
            <a:r>
              <a:rPr lang="en-US" altLang="en-US" b="1"/>
              <a:t>Evaluation Metrics Used: </a:t>
            </a:r>
            <a:r>
              <a:rPr lang="en-US" altLang="en-US"/>
              <a:t>Mean Absolute Error (MAE), Root Mean Squared Error (RMSE), R² Score.</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rPr>
              <a:t>Implementation</a:t>
            </a:r>
            <a:endParaRPr lang="en-US">
              <a:latin typeface="+mn-lt"/>
              <a:cs typeface="+mn-lt"/>
            </a:endParaRPr>
          </a:p>
        </p:txBody>
      </p:sp>
      <p:sp>
        <p:nvSpPr>
          <p:cNvPr id="3" name="Content Placeholder 2"/>
          <p:cNvSpPr>
            <a:spLocks noGrp="1"/>
          </p:cNvSpPr>
          <p:nvPr>
            <p:ph idx="1"/>
          </p:nvPr>
        </p:nvSpPr>
        <p:spPr/>
        <p:txBody>
          <a:bodyPr/>
          <a:p>
            <a:r>
              <a:rPr lang="en-US" sz="3200" b="1"/>
              <a:t>System Overview</a:t>
            </a:r>
            <a:endParaRPr lang="en-US" sz="3200" b="1"/>
          </a:p>
          <a:p>
            <a:pPr>
              <a:buFont typeface="Arial" panose="020B0604020202020204" pitchFamily="34" charset="0"/>
              <a:buChar char="•"/>
            </a:pPr>
            <a:r>
              <a:rPr lang="en-US" altLang="en-US" sz="1800"/>
              <a:t>The system is implemented as a machine learning-based pipeline designed specifically for accurate crop yield prediction using agricultural data.</a:t>
            </a:r>
            <a:endParaRPr lang="en-US" altLang="en-US" sz="1800"/>
          </a:p>
          <a:p>
            <a:pPr>
              <a:buFont typeface="Arial" panose="020B0604020202020204" pitchFamily="34" charset="0"/>
              <a:buChar char="•"/>
            </a:pPr>
            <a:r>
              <a:rPr lang="en-US" altLang="en-US" sz="1800"/>
              <a:t>It follows a structured workflow consisting of: Data Collection from reliable sources, data preprocessing to clean and prepare the dataset, model training using advanced ML algorithms, prediction generation based on input parameters.</a:t>
            </a:r>
            <a:endParaRPr lang="en-US" altLang="en-US" sz="1800"/>
          </a:p>
          <a:p>
            <a:pPr>
              <a:buFont typeface="Arial" panose="020B0604020202020204" pitchFamily="34" charset="0"/>
              <a:buChar char="•"/>
            </a:pPr>
            <a:r>
              <a:rPr lang="en-US" altLang="en-US" sz="1800"/>
              <a:t>The entire system is designed using a modular approach, where each component handles a specific task efficiently.</a:t>
            </a:r>
            <a:endParaRPr lang="en-US" altLang="en-US" sz="1800"/>
          </a:p>
          <a:p>
            <a:pPr>
              <a:buFont typeface="Arial" panose="020B0604020202020204" pitchFamily="34" charset="0"/>
              <a:buChar char="•"/>
            </a:pPr>
            <a:r>
              <a:rPr lang="en-US" altLang="en-US" sz="1800"/>
              <a:t>This modular design improves scalability, maintainability, and clarity, making the system easier to extend and upgrade. </a:t>
            </a:r>
            <a:endParaRPr lang="en-US" altLang="en-US" sz="1800"/>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sym typeface="+mn-ea"/>
              </a:rPr>
              <a:t>Implementation(Contd).</a:t>
            </a:r>
            <a:endParaRPr lang="en-US"/>
          </a:p>
        </p:txBody>
      </p:sp>
      <p:sp>
        <p:nvSpPr>
          <p:cNvPr id="3" name="Content Placeholder 2"/>
          <p:cNvSpPr>
            <a:spLocks noGrp="1"/>
          </p:cNvSpPr>
          <p:nvPr>
            <p:ph idx="1"/>
          </p:nvPr>
        </p:nvSpPr>
        <p:spPr/>
        <p:txBody>
          <a:bodyPr>
            <a:normAutofit/>
          </a:bodyPr>
          <a:p>
            <a:pPr marL="0" indent="0">
              <a:buFont typeface="Arial" panose="020B0604020202020204" pitchFamily="34" charset="0"/>
              <a:buNone/>
            </a:pPr>
            <a:r>
              <a:rPr lang="en-US" altLang="en-US" sz="3200" b="1"/>
              <a:t>Tools and Technologies Used</a:t>
            </a:r>
            <a:r>
              <a:rPr lang="en-US" altLang="en-US"/>
              <a:t> </a:t>
            </a:r>
            <a:endParaRPr lang="en-US" altLang="en-US"/>
          </a:p>
          <a:p>
            <a:pPr>
              <a:buFont typeface="Arial" panose="020B0604020202020204" pitchFamily="34" charset="0"/>
              <a:buChar char="•"/>
            </a:pPr>
            <a:r>
              <a:rPr lang="en-US" altLang="en-US"/>
              <a:t>Programming Language: Python, chosen for its simplicity, flexibility, and strong support for data science applications</a:t>
            </a:r>
            <a:endParaRPr lang="en-US" altLang="en-US"/>
          </a:p>
          <a:p>
            <a:pPr>
              <a:buFont typeface="Arial" panose="020B0604020202020204" pitchFamily="34" charset="0"/>
              <a:buChar char="•"/>
            </a:pPr>
            <a:r>
              <a:rPr lang="en-US" altLang="en-US"/>
              <a:t> Libraries Used: Pandas – for efficient data handling, cleaning, and preprocessing operations, NumPy – for performing fast numerical computations and array manipulations, Scikit-learn – for implementing machine learning models, especially HGBR, Matplotlib / Seaborn – for creating graphs and visualizing data trends and results.</a:t>
            </a:r>
            <a:endParaRPr lang="en-US" altLang="en-US"/>
          </a:p>
          <a:p>
            <a:pPr>
              <a:buFont typeface="Arial" panose="020B0604020202020204" pitchFamily="34" charset="0"/>
              <a:buChar char="•"/>
            </a:pPr>
            <a:r>
              <a:rPr lang="en-US" altLang="en-US"/>
              <a:t> These tools collectively enable efficient data processing, model building, and result visualization in the system.</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sym typeface="+mn-ea"/>
              </a:rPr>
              <a:t>Implementation(Contd).</a:t>
            </a:r>
            <a:endParaRPr lang="en-US"/>
          </a:p>
        </p:txBody>
      </p:sp>
      <p:sp>
        <p:nvSpPr>
          <p:cNvPr id="3" name="Content Placeholder 2"/>
          <p:cNvSpPr>
            <a:spLocks noGrp="1"/>
          </p:cNvSpPr>
          <p:nvPr>
            <p:ph idx="1"/>
          </p:nvPr>
        </p:nvSpPr>
        <p:spPr/>
        <p:txBody>
          <a:bodyPr>
            <a:normAutofit fontScale="60000"/>
          </a:bodyPr>
          <a:p>
            <a:r>
              <a:rPr lang="en-US" sz="5335" b="1"/>
              <a:t>Data Processing and Model Development</a:t>
            </a:r>
            <a:endParaRPr lang="en-US" sz="5335" b="1"/>
          </a:p>
          <a:p>
            <a:pPr>
              <a:buFont typeface="Arial" panose="020B0604020202020204" pitchFamily="34" charset="0"/>
              <a:buChar char="•"/>
            </a:pPr>
            <a:r>
              <a:rPr lang="en-US" sz="3200">
                <a:sym typeface="+mn-ea"/>
              </a:rPr>
              <a:t> </a:t>
            </a:r>
            <a:r>
              <a:rPr lang="en-US" altLang="en-US" sz="3200">
                <a:sym typeface="+mn-ea"/>
              </a:rPr>
              <a:t>The dataset is initially loaded into the system and analyzed to understand its structure, features, and data distribution.</a:t>
            </a:r>
            <a:endParaRPr lang="en-US" altLang="en-US" sz="3200"/>
          </a:p>
          <a:p>
            <a:pPr>
              <a:buFont typeface="Arial" panose="020B0604020202020204" pitchFamily="34" charset="0"/>
              <a:buChar char="•"/>
            </a:pPr>
            <a:r>
              <a:rPr lang="en-US" altLang="en-US" sz="3200">
                <a:sym typeface="+mn-ea"/>
              </a:rPr>
              <a:t> Data Preprocessing Steps: Handling missing values using appropriate techniques like mean imputation. Removing duplicate and inconsistent records to improve data quality, encoding categorical variables such as crop type and region into numerical form, scaling numerical features like rainfall and temperature for better model performance.</a:t>
            </a:r>
            <a:endParaRPr lang="en-US" altLang="en-US" sz="3200"/>
          </a:p>
          <a:p>
            <a:pPr>
              <a:buFont typeface="Arial" panose="020B0604020202020204" pitchFamily="34" charset="0"/>
              <a:buChar char="•"/>
            </a:pPr>
            <a:r>
              <a:rPr lang="en-US" altLang="en-US" sz="3200">
                <a:sym typeface="+mn-ea"/>
              </a:rPr>
              <a:t> Model Development: Histogram Gradient Boosting Regressor (HGBR) is initialized as the main model, the model is trained using the processed dataset to learn patterns, it captures complex relationships between environmental factors and crop yield.</a:t>
            </a:r>
            <a:endParaRPr lang="en-US" altLang="en-US" sz="3200"/>
          </a:p>
          <a:p>
            <a:endParaRPr lang="en-US" sz="3200" b="1"/>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sym typeface="+mn-ea"/>
              </a:rPr>
              <a:t>Implementation(Contd).</a:t>
            </a:r>
            <a:endParaRPr lang="en-US"/>
          </a:p>
        </p:txBody>
      </p:sp>
      <p:sp>
        <p:nvSpPr>
          <p:cNvPr id="3" name="Content Placeholder 2"/>
          <p:cNvSpPr>
            <a:spLocks noGrp="1"/>
          </p:cNvSpPr>
          <p:nvPr>
            <p:ph idx="1"/>
          </p:nvPr>
        </p:nvSpPr>
        <p:spPr/>
        <p:txBody>
          <a:bodyPr>
            <a:normAutofit lnSpcReduction="20000"/>
          </a:bodyPr>
          <a:p>
            <a:pPr marL="0" indent="0">
              <a:buFont typeface="Arial" panose="020B0604020202020204" pitchFamily="34" charset="0"/>
              <a:buNone/>
            </a:pPr>
            <a:r>
              <a:rPr lang="en-US" altLang="en-US" sz="3200" b="1"/>
              <a:t>Prediction and Evaluation</a:t>
            </a:r>
            <a:endParaRPr lang="en-US" altLang="en-US" sz="3200" b="1"/>
          </a:p>
          <a:p>
            <a:pPr>
              <a:buFont typeface="Arial" panose="020B0604020202020204" pitchFamily="34" charset="0"/>
              <a:buChar char="•"/>
            </a:pPr>
            <a:r>
              <a:rPr lang="en-US" altLang="en-US"/>
              <a:t>Prediction Process: User inputs such as crop type, region, and environmental conditions are provided to the trained model, The model processes these inputs and generates predicted crop yield values.</a:t>
            </a:r>
            <a:endParaRPr lang="en-US" altLang="en-US"/>
          </a:p>
          <a:p>
            <a:pPr>
              <a:buFont typeface="Arial" panose="020B0604020202020204" pitchFamily="34" charset="0"/>
              <a:buChar char="•"/>
            </a:pPr>
            <a:r>
              <a:rPr lang="en-US" altLang="en-US"/>
              <a:t>Model Evaluation: The predicted values are compared with actual values from the test dataset to measure performance.</a:t>
            </a:r>
            <a:endParaRPr lang="en-US" altLang="en-US"/>
          </a:p>
          <a:p>
            <a:pPr>
              <a:buFont typeface="Arial" panose="020B0604020202020204" pitchFamily="34" charset="0"/>
              <a:buChar char="•"/>
            </a:pPr>
            <a:r>
              <a:rPr lang="en-US" altLang="en-US"/>
              <a:t>Evaluation Metrics Used: Mean Absolute Error (MAE) to measure average prediction error, Root Mean Squared Error (RMSE) to penalize larger errors, R² Score to evaluate how well the model explains the data.</a:t>
            </a:r>
            <a:endParaRPr lang="en-US" altLang="en-US"/>
          </a:p>
          <a:p>
            <a:pPr>
              <a:buFont typeface="Arial" panose="020B0604020202020204" pitchFamily="34" charset="0"/>
              <a:buChar char="•"/>
            </a:pPr>
            <a:r>
              <a:rPr lang="en-US" altLang="en-US"/>
              <a:t>These evaluation techniques ensure that the model is accurate, reliable, and capable of handling real-world agricultural data.</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rPr>
              <a:t>Testing</a:t>
            </a:r>
            <a:endParaRPr lang="en-US">
              <a:latin typeface="+mn-lt"/>
              <a:cs typeface="+mn-lt"/>
            </a:endParaRPr>
          </a:p>
        </p:txBody>
      </p:sp>
      <p:sp>
        <p:nvSpPr>
          <p:cNvPr id="3" name="Content Placeholder 2"/>
          <p:cNvSpPr>
            <a:spLocks noGrp="1"/>
          </p:cNvSpPr>
          <p:nvPr>
            <p:ph idx="1"/>
          </p:nvPr>
        </p:nvSpPr>
        <p:spPr/>
        <p:txBody>
          <a:bodyPr>
            <a:normAutofit fontScale="60000"/>
          </a:bodyPr>
          <a:p>
            <a:pPr algn="l"/>
            <a:r>
              <a:rPr lang="en-US" sz="4665"/>
              <a:t>Model Evaluation</a:t>
            </a:r>
            <a:endParaRPr lang="en-US" sz="4665"/>
          </a:p>
          <a:p>
            <a:pPr>
              <a:buFont typeface="Arial" panose="020B0604020202020204" pitchFamily="34" charset="0"/>
              <a:buChar char="•"/>
            </a:pPr>
            <a:r>
              <a:rPr lang="en-US" altLang="en-US" sz="3200"/>
              <a:t>Evaluated using standard regression metrics on test data</a:t>
            </a:r>
            <a:endParaRPr lang="en-US" altLang="en-US" sz="3200"/>
          </a:p>
          <a:p>
            <a:pPr>
              <a:buFont typeface="Arial" panose="020B0604020202020204" pitchFamily="34" charset="0"/>
              <a:buChar char="•"/>
            </a:pPr>
            <a:r>
              <a:rPr lang="en-US" altLang="en-US" sz="3200"/>
              <a:t>R² Score: 0.719 → Model explains ~72% variance in yield</a:t>
            </a:r>
            <a:endParaRPr lang="en-US" altLang="en-US" sz="3200"/>
          </a:p>
          <a:p>
            <a:pPr>
              <a:buFont typeface="Arial" panose="020B0604020202020204" pitchFamily="34" charset="0"/>
              <a:buChar char="•"/>
            </a:pPr>
            <a:r>
              <a:rPr lang="en-US" altLang="en-US" sz="3200"/>
              <a:t>Adjusted R²: 0.712 → Consistent performance after feature penalty</a:t>
            </a:r>
            <a:endParaRPr lang="en-US" altLang="en-US" sz="3200"/>
          </a:p>
          <a:p>
            <a:pPr>
              <a:buFont typeface="Arial" panose="020B0604020202020204" pitchFamily="34" charset="0"/>
              <a:buChar char="•"/>
            </a:pPr>
            <a:r>
              <a:rPr lang="en-US" altLang="en-US" sz="3200"/>
              <a:t>RMSE: 858.78 → Moderate prediction error magnitude</a:t>
            </a:r>
            <a:endParaRPr lang="en-US" altLang="en-US" sz="3200"/>
          </a:p>
          <a:p>
            <a:pPr>
              <a:buFont typeface="Arial" panose="020B0604020202020204" pitchFamily="34" charset="0"/>
              <a:buChar char="•"/>
            </a:pPr>
            <a:r>
              <a:rPr lang="en-US" altLang="en-US" sz="3200"/>
              <a:t>MAE: 81.75 → Low average absolute deviation</a:t>
            </a:r>
            <a:endParaRPr lang="en-US" altLang="en-US" sz="3200"/>
          </a:p>
          <a:p>
            <a:pPr>
              <a:buFont typeface="Arial" panose="020B0604020202020204" pitchFamily="34" charset="0"/>
              <a:buChar char="•"/>
            </a:pPr>
            <a:r>
              <a:rPr lang="en-US" altLang="en-US" sz="3200"/>
              <a:t>RMSLE: 0.166 → Good performance on log-transformed targets</a:t>
            </a:r>
            <a:endParaRPr lang="en-US" altLang="en-US" sz="3200"/>
          </a:p>
          <a:p>
            <a:pPr>
              <a:buFont typeface="Arial" panose="020B0604020202020204" pitchFamily="34" charset="0"/>
              <a:buChar char="•"/>
            </a:pPr>
            <a:r>
              <a:rPr lang="en-US" altLang="en-US" sz="3200"/>
              <a:t>SMAPE: 15.50% → Acceptable percentage error across regions</a:t>
            </a:r>
            <a:endParaRPr lang="en-US" altLang="en-US" sz="3200"/>
          </a:p>
          <a:p>
            <a:pPr>
              <a:buFont typeface="Arial" panose="020B0604020202020204" pitchFamily="34" charset="0"/>
              <a:buChar char="•"/>
            </a:pPr>
            <a:r>
              <a:rPr lang="en-US" altLang="en-US" sz="3200"/>
              <a:t>Log-target transformation improved stability and reduced skew impact</a:t>
            </a:r>
            <a:endParaRPr lang="en-US" altLang="en-US" sz="3200"/>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Testing(Contd).</a:t>
            </a:r>
            <a:endParaRPr lang="en-US"/>
          </a:p>
        </p:txBody>
      </p:sp>
      <p:sp>
        <p:nvSpPr>
          <p:cNvPr id="3" name="Content Placeholder 2"/>
          <p:cNvSpPr>
            <a:spLocks noGrp="1"/>
          </p:cNvSpPr>
          <p:nvPr>
            <p:ph idx="1"/>
          </p:nvPr>
        </p:nvSpPr>
        <p:spPr/>
        <p:txBody>
          <a:bodyPr/>
          <a:p>
            <a:r>
              <a:rPr lang="en-US" altLang="en-US"/>
              <a:t>Actual vs Predicted Plot:</a:t>
            </a:r>
            <a:endParaRPr lang="en-US" altLang="en-US"/>
          </a:p>
          <a:p>
            <a:pPr>
              <a:buFont typeface="Arial" panose="020B0604020202020204" pitchFamily="34" charset="0"/>
              <a:buChar char="•"/>
            </a:pPr>
            <a:r>
              <a:rPr lang="en-US" altLang="en-US"/>
              <a:t>Predictions follow general trend (positive correlation)</a:t>
            </a:r>
            <a:endParaRPr lang="en-US" altLang="en-US"/>
          </a:p>
          <a:p>
            <a:pPr>
              <a:buFont typeface="Arial" panose="020B0604020202020204" pitchFamily="34" charset="0"/>
              <a:buChar char="•"/>
            </a:pPr>
            <a:r>
              <a:rPr lang="en-US" altLang="en-US"/>
              <a:t>Some dispersion at higher yield values → slight underfitting in extremes</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pic>
        <p:nvPicPr>
          <p:cNvPr id="5" name="Picture 4" descr="s22"/>
          <p:cNvPicPr>
            <a:picLocks noChangeAspect="1"/>
          </p:cNvPicPr>
          <p:nvPr/>
        </p:nvPicPr>
        <p:blipFill>
          <a:blip r:embed="rId1"/>
          <a:stretch>
            <a:fillRect/>
          </a:stretch>
        </p:blipFill>
        <p:spPr>
          <a:xfrm>
            <a:off x="0" y="3257550"/>
            <a:ext cx="8366125" cy="238696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Testing(Contd).</a:t>
            </a:r>
            <a:endParaRPr lang="en-US"/>
          </a:p>
        </p:txBody>
      </p:sp>
      <p:sp>
        <p:nvSpPr>
          <p:cNvPr id="3" name="Content Placeholder 2"/>
          <p:cNvSpPr>
            <a:spLocks noGrp="1"/>
          </p:cNvSpPr>
          <p:nvPr>
            <p:ph idx="1"/>
          </p:nvPr>
        </p:nvSpPr>
        <p:spPr/>
        <p:txBody>
          <a:bodyPr/>
          <a:p>
            <a:pPr>
              <a:lnSpc>
                <a:spcPct val="40000"/>
              </a:lnSpc>
            </a:pPr>
            <a:r>
              <a:rPr lang="en-US" altLang="en-US"/>
              <a:t>Residual Analysis:</a:t>
            </a:r>
            <a:endParaRPr lang="en-US" altLang="en-US"/>
          </a:p>
          <a:p>
            <a:pPr>
              <a:lnSpc>
                <a:spcPct val="40000"/>
              </a:lnSpc>
              <a:buFont typeface="Arial" panose="020B0604020202020204" pitchFamily="34" charset="0"/>
              <a:buChar char="•"/>
            </a:pPr>
            <a:r>
              <a:rPr lang="en-US" altLang="en-US"/>
              <a:t>Residuals centered around zero → no strong bias.</a:t>
            </a:r>
            <a:endParaRPr lang="en-US" altLang="en-US"/>
          </a:p>
          <a:p>
            <a:pPr>
              <a:lnSpc>
                <a:spcPct val="40000"/>
              </a:lnSpc>
              <a:buFont typeface="Arial" panose="020B0604020202020204" pitchFamily="34" charset="0"/>
              <a:buChar char="•"/>
            </a:pPr>
            <a:r>
              <a:rPr lang="en-US" altLang="en-US"/>
              <a:t>Spread increases with higher predictions → heteroscedasticity observed.</a:t>
            </a:r>
            <a:endParaRPr lang="en-US" altLang="en-US"/>
          </a:p>
          <a:p>
            <a:pPr>
              <a:lnSpc>
                <a:spcPct val="40000"/>
              </a:lnSpc>
              <a:buFont typeface="Arial" panose="020B0604020202020204" pitchFamily="34" charset="0"/>
              <a:buChar char="•"/>
            </a:pPr>
            <a:r>
              <a:rPr lang="en-US" altLang="en-US"/>
              <a:t>Few outliers with large errors (high-yield regions).</a:t>
            </a:r>
            <a:endParaRPr lang="en-US" altLang="en-US"/>
          </a:p>
          <a:p>
            <a:pPr>
              <a:lnSpc>
                <a:spcPct val="40000"/>
              </a:lnSpc>
              <a:buFont typeface="Arial" panose="020B0604020202020204" pitchFamily="34" charset="0"/>
              <a:buChar char="•"/>
            </a:pPr>
            <a:r>
              <a:rPr lang="en-US" altLang="en-US"/>
              <a:t>Model captures overall pattern but struggles with extreme yield values.</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pic>
        <p:nvPicPr>
          <p:cNvPr id="5" name="Picture 4" descr="s33"/>
          <p:cNvPicPr>
            <a:picLocks noChangeAspect="1"/>
          </p:cNvPicPr>
          <p:nvPr/>
        </p:nvPicPr>
        <p:blipFill>
          <a:blip r:embed="rId1"/>
          <a:stretch>
            <a:fillRect/>
          </a:stretch>
        </p:blipFill>
        <p:spPr>
          <a:xfrm>
            <a:off x="0" y="3216910"/>
            <a:ext cx="8698230" cy="27876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Testing(Contd).</a:t>
            </a:r>
            <a:endParaRPr lang="en-US" altLang="en-US"/>
          </a:p>
        </p:txBody>
      </p:sp>
      <p:sp>
        <p:nvSpPr>
          <p:cNvPr id="3" name="Content Placeholder 2"/>
          <p:cNvSpPr>
            <a:spLocks noGrp="1"/>
          </p:cNvSpPr>
          <p:nvPr>
            <p:ph idx="1"/>
          </p:nvPr>
        </p:nvSpPr>
        <p:spPr/>
        <p:txBody>
          <a:bodyPr>
            <a:normAutofit fontScale="70000"/>
          </a:bodyPr>
          <a:p>
            <a:r>
              <a:rPr lang="en-US" altLang="en-US" sz="2800">
                <a:sym typeface="+mn-ea"/>
              </a:rPr>
              <a:t>Spatial Testing:</a:t>
            </a:r>
            <a:endParaRPr lang="en-US" altLang="en-US" sz="2800">
              <a:sym typeface="+mn-ea"/>
            </a:endParaRPr>
          </a:p>
          <a:p>
            <a:pPr>
              <a:buFont typeface="Arial" panose="020B0604020202020204" pitchFamily="34" charset="0"/>
              <a:buChar char="•"/>
            </a:pPr>
            <a:r>
              <a:rPr lang="en-US" altLang="en-US" sz="2800">
                <a:sym typeface="+mn-ea"/>
              </a:rPr>
              <a:t>Interactive Folium map used for geographic validation</a:t>
            </a:r>
            <a:endParaRPr lang="en-US" altLang="en-US" sz="2800">
              <a:sym typeface="+mn-ea"/>
            </a:endParaRPr>
          </a:p>
          <a:p>
            <a:pPr>
              <a:buFont typeface="Arial" panose="020B0604020202020204" pitchFamily="34" charset="0"/>
              <a:buChar char="•"/>
            </a:pPr>
            <a:r>
              <a:rPr lang="en-US" altLang="en-US" sz="2800">
                <a:sym typeface="+mn-ea"/>
              </a:rPr>
              <a:t>Displays predicted crop yields across Indian states</a:t>
            </a:r>
            <a:endParaRPr lang="en-US" altLang="en-US" sz="2800">
              <a:sym typeface="+mn-ea"/>
            </a:endParaRPr>
          </a:p>
          <a:p>
            <a:pPr>
              <a:buFont typeface="Arial" panose="020B0604020202020204" pitchFamily="34" charset="0"/>
              <a:buChar char="•"/>
            </a:pPr>
            <a:r>
              <a:rPr lang="en-US" altLang="en-US" sz="2800">
                <a:sym typeface="+mn-ea"/>
              </a:rPr>
              <a:t>Helps identify regional prediction variations</a:t>
            </a:r>
            <a:endParaRPr lang="en-US" altLang="en-US" sz="2800">
              <a:sym typeface="+mn-ea"/>
            </a:endParaRPr>
          </a:p>
          <a:p>
            <a:pPr>
              <a:buFont typeface="Arial" panose="020B0604020202020204" pitchFamily="34" charset="0"/>
              <a:buChar char="•"/>
            </a:pPr>
            <a:r>
              <a:rPr lang="en-US" altLang="en-US" sz="2800">
                <a:sym typeface="+mn-ea"/>
              </a:rPr>
              <a:t>Example insight: Northeastern states (e.g., Arunachal Pradesh) show moderate predictions</a:t>
            </a:r>
            <a:endParaRPr lang="en-US" altLang="en-US" sz="2800">
              <a:sym typeface="+mn-ea"/>
            </a:endParaRPr>
          </a:p>
          <a:p>
            <a:pPr>
              <a:buFont typeface="Arial" panose="020B0604020202020204" pitchFamily="34" charset="0"/>
              <a:buChar char="•"/>
            </a:pPr>
            <a:r>
              <a:rPr lang="en-US" altLang="en-US" sz="2800">
                <a:sym typeface="+mn-ea"/>
              </a:rPr>
              <a:t>Visual tool aids in: Detecting spatial inconsistencies, Understanding regional agricultural patterns.</a:t>
            </a:r>
            <a:endParaRPr lang="en-US" altLang="en-US" sz="2800">
              <a:sym typeface="+mn-ea"/>
            </a:endParaRPr>
          </a:p>
          <a:p>
            <a:pPr>
              <a:buFont typeface="Arial" panose="020B0604020202020204" pitchFamily="34" charset="0"/>
              <a:buChar char="•"/>
            </a:pPr>
            <a:r>
              <a:rPr lang="en-US" altLang="en-US" sz="2800">
                <a:sym typeface="+mn-ea"/>
              </a:rPr>
              <a:t>Confirms model generalization across diverse climatic zones in India</a:t>
            </a:r>
            <a:endParaRPr lang="en-US" altLang="en-US" sz="2800">
              <a:sym typeface="+mn-ea"/>
            </a:endParaRPr>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ym typeface="+mn-ea"/>
              </a:rPr>
              <a:t>Testing(Contd).</a:t>
            </a:r>
            <a:endParaRPr lang="en-US"/>
          </a:p>
        </p:txBody>
      </p:sp>
      <p:pic>
        <p:nvPicPr>
          <p:cNvPr id="5" name="Content Placeholder 4" descr="s44"/>
          <p:cNvPicPr>
            <a:picLocks noChangeAspect="1"/>
          </p:cNvPicPr>
          <p:nvPr>
            <p:ph idx="1"/>
          </p:nvPr>
        </p:nvPicPr>
        <p:blipFill>
          <a:blip r:embed="rId1"/>
          <a:stretch>
            <a:fillRect/>
          </a:stretch>
        </p:blipFill>
        <p:spPr>
          <a:xfrm>
            <a:off x="2421890" y="1845945"/>
            <a:ext cx="4730115" cy="4023360"/>
          </a:xfrm>
          <a:prstGeom prst="rect">
            <a:avLst/>
          </a:prstGeom>
        </p:spPr>
      </p:pic>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rPr>
              <a:t>Conclusion and Future Enhancements</a:t>
            </a:r>
            <a:endParaRPr lang="en-US">
              <a:latin typeface="+mn-lt"/>
              <a:cs typeface="+mn-lt"/>
            </a:endParaRPr>
          </a:p>
        </p:txBody>
      </p:sp>
      <p:sp>
        <p:nvSpPr>
          <p:cNvPr id="3" name="Content Placeholder 2"/>
          <p:cNvSpPr>
            <a:spLocks noGrp="1"/>
          </p:cNvSpPr>
          <p:nvPr>
            <p:ph idx="1"/>
          </p:nvPr>
        </p:nvSpPr>
        <p:spPr/>
        <p:txBody>
          <a:bodyPr>
            <a:normAutofit fontScale="50000"/>
          </a:bodyPr>
          <a:p>
            <a:r>
              <a:rPr lang="en-US" sz="2800" b="1"/>
              <a:t>Conclusion</a:t>
            </a:r>
            <a:endParaRPr lang="en-US" sz="2800" b="1"/>
          </a:p>
          <a:p>
            <a:pPr>
              <a:buFont typeface="Arial" panose="020B0604020202020204" pitchFamily="34" charset="0"/>
              <a:buChar char="•"/>
            </a:pPr>
            <a:r>
              <a:rPr lang="en-US" altLang="en-US" sz="3335">
                <a:latin typeface="Times New Roman" panose="02020603050405020304" pitchFamily="18" charset="0"/>
                <a:cs typeface="Times New Roman" panose="02020603050405020304" pitchFamily="18" charset="0"/>
              </a:rPr>
              <a:t>Developed a lightweight crop yield prediction model using Histogram Gradient Boosting Regressor (HGBR)</a:t>
            </a:r>
            <a:endParaRPr lang="en-US" altLang="en-US" sz="3335">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335">
                <a:latin typeface="Times New Roman" panose="02020603050405020304" pitchFamily="18" charset="0"/>
                <a:cs typeface="Times New Roman" panose="02020603050405020304" pitchFamily="18" charset="0"/>
              </a:rPr>
              <a:t>Achieved strong predictive performance (R² ≈ 0.72) with low error metrics</a:t>
            </a:r>
            <a:endParaRPr lang="en-US" altLang="en-US" sz="3335">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335">
                <a:latin typeface="Times New Roman" panose="02020603050405020304" pitchFamily="18" charset="0"/>
                <a:cs typeface="Times New Roman" panose="02020603050405020304" pitchFamily="18" charset="0"/>
              </a:rPr>
              <a:t>Log transformation improved handling of skewed agricultural data</a:t>
            </a:r>
            <a:endParaRPr lang="en-US" altLang="en-US" sz="3335">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335">
                <a:latin typeface="Times New Roman" panose="02020603050405020304" pitchFamily="18" charset="0"/>
                <a:cs typeface="Times New Roman" panose="02020603050405020304" pitchFamily="18" charset="0"/>
              </a:rPr>
              <a:t>Model successfully captures overall yield trends across Indian states</a:t>
            </a:r>
            <a:endParaRPr lang="en-US" altLang="en-US" sz="3335">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335">
                <a:latin typeface="Times New Roman" panose="02020603050405020304" pitchFamily="18" charset="0"/>
                <a:cs typeface="Times New Roman" panose="02020603050405020304" pitchFamily="18" charset="0"/>
              </a:rPr>
              <a:t>Residual analysis shows minimal bias, though extreme values remain challenging</a:t>
            </a:r>
            <a:endParaRPr lang="en-US" altLang="en-US" sz="3335">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335">
                <a:latin typeface="Times New Roman" panose="02020603050405020304" pitchFamily="18" charset="0"/>
                <a:cs typeface="Times New Roman" panose="02020603050405020304" pitchFamily="18" charset="0"/>
              </a:rPr>
              <a:t>Folium-based visualization confirms good spatial generalization</a:t>
            </a:r>
            <a:endParaRPr lang="en-US" altLang="en-US" sz="3335">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3335">
                <a:latin typeface="Times New Roman" panose="02020603050405020304" pitchFamily="18" charset="0"/>
                <a:cs typeface="Times New Roman" panose="02020603050405020304" pitchFamily="18" charset="0"/>
              </a:rPr>
              <a:t>Suitable for resource-constrained environments due to efficiency and scalability</a:t>
            </a:r>
            <a:endParaRPr lang="en-US" altLang="en-US" sz="3335">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atin typeface="+mn-lt"/>
                <a:cs typeface="+mn-lt"/>
                <a:sym typeface="+mn-ea"/>
              </a:rPr>
              <a:t>Conclusion and Future Enhancements(Contd).</a:t>
            </a:r>
            <a:endParaRPr lang="en-US"/>
          </a:p>
        </p:txBody>
      </p:sp>
      <p:sp>
        <p:nvSpPr>
          <p:cNvPr id="3" name="Content Placeholder 2"/>
          <p:cNvSpPr>
            <a:spLocks noGrp="1"/>
          </p:cNvSpPr>
          <p:nvPr>
            <p:ph idx="1"/>
          </p:nvPr>
        </p:nvSpPr>
        <p:spPr/>
        <p:txBody>
          <a:bodyPr>
            <a:normAutofit lnSpcReduction="20000"/>
          </a:bodyPr>
          <a:p>
            <a:r>
              <a:rPr lang="en-US"/>
              <a:t>Future Enhancements</a:t>
            </a:r>
            <a:endParaRPr lang="en-US"/>
          </a:p>
          <a:p>
            <a:pPr>
              <a:buFont typeface="Arial" panose="020B0604020202020204" pitchFamily="34" charset="0"/>
              <a:buChar char="•"/>
            </a:pPr>
            <a:r>
              <a:rPr lang="en-US" altLang="en-US"/>
              <a:t>Incorporate real-time weather and satellite data for dynamic predictions</a:t>
            </a:r>
            <a:endParaRPr lang="en-US" altLang="en-US"/>
          </a:p>
          <a:p>
            <a:pPr>
              <a:buFont typeface="Arial" panose="020B0604020202020204" pitchFamily="34" charset="0"/>
              <a:buChar char="•"/>
            </a:pPr>
            <a:r>
              <a:rPr lang="en-US" altLang="en-US"/>
              <a:t>Use deep learning models (e.g., LSTM, CNN) for temporal and spatial patterns</a:t>
            </a:r>
            <a:endParaRPr lang="en-US" altLang="en-US"/>
          </a:p>
          <a:p>
            <a:pPr>
              <a:buFont typeface="Arial" panose="020B0604020202020204" pitchFamily="34" charset="0"/>
              <a:buChar char="•"/>
            </a:pPr>
            <a:r>
              <a:rPr lang="en-US" altLang="en-US"/>
              <a:t>Improve handling of outliers and high-yield variance regions</a:t>
            </a:r>
            <a:endParaRPr lang="en-US" altLang="en-US"/>
          </a:p>
          <a:p>
            <a:pPr>
              <a:buFont typeface="Arial" panose="020B0604020202020204" pitchFamily="34" charset="0"/>
              <a:buChar char="•"/>
            </a:pPr>
            <a:r>
              <a:rPr lang="en-US" altLang="en-US"/>
              <a:t>Integrate soil health, irrigation, and fertilizer usage data</a:t>
            </a:r>
            <a:endParaRPr lang="en-US" altLang="en-US"/>
          </a:p>
          <a:p>
            <a:pPr>
              <a:buFont typeface="Arial" panose="020B0604020202020204" pitchFamily="34" charset="0"/>
              <a:buChar char="•"/>
            </a:pPr>
            <a:r>
              <a:rPr lang="en-US" altLang="en-US"/>
              <a:t>Perform hyperparameter optimization &amp; ensemble techniques for higher accuracy</a:t>
            </a:r>
            <a:endParaRPr lang="en-US" altLang="en-US"/>
          </a:p>
          <a:p>
            <a:pPr>
              <a:buFont typeface="Arial" panose="020B0604020202020204" pitchFamily="34" charset="0"/>
              <a:buChar char="•"/>
            </a:pPr>
            <a:r>
              <a:rPr lang="en-US" altLang="en-US"/>
              <a:t>Develop a web/mobile-based decision support system for farmers</a:t>
            </a:r>
            <a:endParaRPr lang="en-US" altLang="en-US"/>
          </a:p>
          <a:p>
            <a:pPr>
              <a:buFont typeface="Arial" panose="020B0604020202020204" pitchFamily="34" charset="0"/>
              <a:buChar char="•"/>
            </a:pPr>
            <a:r>
              <a:rPr lang="en-US" altLang="en-US"/>
              <a:t>Extend model to crop-specific and district-level predictions for finer granularity</a:t>
            </a:r>
            <a:endParaRPr lang="en-US" altLang="en-US"/>
          </a:p>
        </p:txBody>
      </p:sp>
      <p:sp>
        <p:nvSpPr>
          <p:cNvPr id="4" name="Slide Number Placeholder 3"/>
          <p:cNvSpPr>
            <a:spLocks noGrp="1"/>
          </p:cNvSpPr>
          <p:nvPr>
            <p:ph type="sldNum" sz="quarter" idx="12"/>
          </p:nvPr>
        </p:nvSpPr>
        <p:spPr/>
        <p:txBody>
          <a:bodyPr/>
          <a:p>
            <a:fld id="{7B96C36A-F526-4005-AC05-026A3E500865}"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Thank you …</a:t>
            </a:r>
            <a:endParaRPr lang="en-US" b="1" dirty="0"/>
          </a:p>
        </p:txBody>
      </p:sp>
      <p:sp>
        <p:nvSpPr>
          <p:cNvPr id="2" name="Content Placeholder 1"/>
          <p:cNvSpPr>
            <a:spLocks noGrp="1"/>
          </p:cNvSpPr>
          <p:nvPr>
            <p:ph idx="1"/>
          </p:nvPr>
        </p:nvSpPr>
        <p:spPr/>
        <p:txBody>
          <a:bodyPr/>
          <a:lstStyle/>
          <a:p>
            <a:endParaRPr lang="en-US" dirty="0"/>
          </a:p>
          <a:p>
            <a:endParaRPr lang="en-US" dirty="0"/>
          </a:p>
          <a:p>
            <a:endParaRPr lang="en-US" dirty="0"/>
          </a:p>
          <a:p>
            <a:pPr algn="ctr"/>
            <a:r>
              <a:rPr lang="en-US" sz="3200" b="1" dirty="0"/>
              <a:t>Any Questions?</a:t>
            </a:r>
            <a:endParaRPr lang="en-US" sz="3200" b="1" dirty="0"/>
          </a:p>
        </p:txBody>
      </p:sp>
      <p:sp>
        <p:nvSpPr>
          <p:cNvPr id="5" name="Slide Number Placeholder 4"/>
          <p:cNvSpPr>
            <a:spLocks noGrp="1"/>
          </p:cNvSpPr>
          <p:nvPr>
            <p:ph type="sldNum" sz="quarter" idx="12"/>
          </p:nvPr>
        </p:nvSpPr>
        <p:spPr/>
        <p:txBody>
          <a:bodyPr/>
          <a:lstStyle/>
          <a:p>
            <a:fld id="{7B96C36A-F526-4005-AC05-026A3E500865}" type="slidenum">
              <a:rPr lang="en-US" smtClean="0"/>
            </a:fld>
            <a:endParaRPr lang="en-US"/>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12270</Words>
  <Application>WPS Presentation</Application>
  <PresentationFormat>On-screen Show (4:3)</PresentationFormat>
  <Paragraphs>276</Paragraphs>
  <Slides>27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27</vt:i4>
      </vt:variant>
    </vt:vector>
  </HeadingPairs>
  <TitlesOfParts>
    <vt:vector size="39" baseType="lpstr">
      <vt:lpstr>Arial</vt:lpstr>
      <vt:lpstr>SimSun</vt:lpstr>
      <vt:lpstr>Wingdings</vt:lpstr>
      <vt:lpstr>Calibri</vt:lpstr>
      <vt:lpstr>Times New Roman</vt:lpstr>
      <vt:lpstr>Calibri</vt:lpstr>
      <vt:lpstr>Arial</vt:lpstr>
      <vt:lpstr>Century Gothic</vt:lpstr>
      <vt:lpstr>Microsoft YaHei</vt:lpstr>
      <vt:lpstr>Arial Unicode MS</vt:lpstr>
      <vt:lpstr>Calibri Light</vt:lpstr>
      <vt:lpstr>Retrospect</vt:lpstr>
      <vt:lpstr>PowerPoint 演示文稿</vt:lpstr>
      <vt:lpstr>ABSTRACT</vt:lpstr>
      <vt:lpstr>Introduction </vt:lpstr>
      <vt:lpstr>Introduction(Contd).</vt:lpstr>
      <vt:lpstr>Problem Definition</vt:lpstr>
      <vt:lpstr>Literature Survey</vt:lpstr>
      <vt:lpstr>Literature Survey(Contd).</vt:lpstr>
      <vt:lpstr>System Design</vt:lpstr>
      <vt:lpstr>System Design(Contd).</vt:lpstr>
      <vt:lpstr>System Design(Contd).</vt:lpstr>
      <vt:lpstr>Methodology</vt:lpstr>
      <vt:lpstr>Methodology(Contd).</vt:lpstr>
      <vt:lpstr>Requirement Specifications</vt:lpstr>
      <vt:lpstr>Requirement Specifications(Contd).</vt:lpstr>
      <vt:lpstr>Requirement Specifications(Contd).</vt:lpstr>
      <vt:lpstr>Implementation</vt:lpstr>
      <vt:lpstr>Implementation(Contd).</vt:lpstr>
      <vt:lpstr>Implementation(Contd).</vt:lpstr>
      <vt:lpstr>Implementation(Contd).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Sreenivas N</dc:creator>
  <cp:lastModifiedBy>oagad</cp:lastModifiedBy>
  <cp:revision>19</cp:revision>
  <dcterms:created xsi:type="dcterms:W3CDTF">2026-03-17T08:48:00Z</dcterms:created>
  <dcterms:modified xsi:type="dcterms:W3CDTF">2026-04-19T12:42:07Z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020C4B181EEE4EFEABDBB76FD8F7A102_13</vt:lpwstr>
  </property>
</Properties>
</file>